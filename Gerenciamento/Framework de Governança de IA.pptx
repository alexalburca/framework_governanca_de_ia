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0ED67B-F9B9-4330-B129-D66C27DD8D98}" v="13" dt="2026-05-20T19:49:50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0261" autoAdjust="0"/>
  </p:normalViewPr>
  <p:slideViewPr>
    <p:cSldViewPr>
      <p:cViewPr varScale="1">
        <p:scale>
          <a:sx n="50" d="100"/>
          <a:sy n="50" d="100"/>
        </p:scale>
        <p:origin x="1267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5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Albuquerque" userId="2c51499db207f106" providerId="LiveId" clId="{A77BC12E-E493-4CE9-B859-BDA510E89199}"/>
    <pc:docChg chg="custSel modSld">
      <pc:chgData name="Alex Albuquerque" userId="2c51499db207f106" providerId="LiveId" clId="{A77BC12E-E493-4CE9-B859-BDA510E89199}" dt="2026-05-20T19:49:37.143" v="41" actId="20577"/>
      <pc:docMkLst>
        <pc:docMk/>
      </pc:docMkLst>
      <pc:sldChg chg="modNotesTx">
        <pc:chgData name="Alex Albuquerque" userId="2c51499db207f106" providerId="LiveId" clId="{A77BC12E-E493-4CE9-B859-BDA510E89199}" dt="2026-05-20T19:48:27.289" v="32" actId="20577"/>
        <pc:sldMkLst>
          <pc:docMk/>
          <pc:sldMk cId="0" sldId="256"/>
        </pc:sldMkLst>
      </pc:sldChg>
      <pc:sldChg chg="modNotesTx">
        <pc:chgData name="Alex Albuquerque" userId="2c51499db207f106" providerId="LiveId" clId="{A77BC12E-E493-4CE9-B859-BDA510E89199}" dt="2026-05-20T14:47:39.688" v="2" actId="20577"/>
        <pc:sldMkLst>
          <pc:docMk/>
          <pc:sldMk cId="0" sldId="257"/>
        </pc:sldMkLst>
      </pc:sldChg>
      <pc:sldChg chg="addSp delSp modSp mod modNotesTx">
        <pc:chgData name="Alex Albuquerque" userId="2c51499db207f106" providerId="LiveId" clId="{A77BC12E-E493-4CE9-B859-BDA510E89199}" dt="2026-05-20T19:33:40.236" v="31" actId="313"/>
        <pc:sldMkLst>
          <pc:docMk/>
          <pc:sldMk cId="0" sldId="261"/>
        </pc:sldMkLst>
        <pc:picChg chg="del">
          <ac:chgData name="Alex Albuquerque" userId="2c51499db207f106" providerId="LiveId" clId="{A77BC12E-E493-4CE9-B859-BDA510E89199}" dt="2026-05-20T19:32:56.612" v="21" actId="478"/>
          <ac:picMkLst>
            <pc:docMk/>
            <pc:sldMk cId="0" sldId="261"/>
            <ac:picMk id="2" creationId="{00000000-0000-0000-0000-000000000000}"/>
          </ac:picMkLst>
        </pc:picChg>
        <pc:picChg chg="add mod">
          <ac:chgData name="Alex Albuquerque" userId="2c51499db207f106" providerId="LiveId" clId="{A77BC12E-E493-4CE9-B859-BDA510E89199}" dt="2026-05-20T19:33:05.341" v="24" actId="14100"/>
          <ac:picMkLst>
            <pc:docMk/>
            <pc:sldMk cId="0" sldId="261"/>
            <ac:picMk id="4" creationId="{6BF114C9-E60A-A710-5CB6-3780FA8F3CBB}"/>
          </ac:picMkLst>
        </pc:picChg>
      </pc:sldChg>
      <pc:sldChg chg="modNotesTx">
        <pc:chgData name="Alex Albuquerque" userId="2c51499db207f106" providerId="LiveId" clId="{A77BC12E-E493-4CE9-B859-BDA510E89199}" dt="2026-05-20T14:49:47.143" v="5" actId="20577"/>
        <pc:sldMkLst>
          <pc:docMk/>
          <pc:sldMk cId="0" sldId="262"/>
        </pc:sldMkLst>
      </pc:sldChg>
      <pc:sldChg chg="modNotesTx">
        <pc:chgData name="Alex Albuquerque" userId="2c51499db207f106" providerId="LiveId" clId="{A77BC12E-E493-4CE9-B859-BDA510E89199}" dt="2026-05-20T16:59:59.976" v="20" actId="20577"/>
        <pc:sldMkLst>
          <pc:docMk/>
          <pc:sldMk cId="0" sldId="264"/>
        </pc:sldMkLst>
      </pc:sldChg>
      <pc:sldChg chg="modNotesTx">
        <pc:chgData name="Alex Albuquerque" userId="2c51499db207f106" providerId="LiveId" clId="{A77BC12E-E493-4CE9-B859-BDA510E89199}" dt="2026-05-20T19:49:37.143" v="41" actId="20577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C8FDB1-9153-40DD-B87A-E94C0962E1B2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2F627-BA13-447B-BAA0-BC64268F0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0831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Nosso projeto nasceu para resolver um problema urgente: como levar a Inteligência Artificial para o coração das operações críticas sem colocar a empresa em risco."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2F627-BA13-447B-BAA0-BC64268F0DF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008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desafio hoje não é mais 'se' vamos adotar a IA, mas 'como' garantir que ela opere com segurança. Nas operações críticas, a falha não é uma opção. Sem diretrizes, empresas sofrem com a 'Shadow AI' e riscos gigantescos de multas e falhas operacionais.“</a:t>
            </a:r>
            <a:b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Inteligência Artificial já impacta decisões institucionais em tempo real. O desafio não é mais 'se' vamos adotar a IA, mas como garantir sua resiliência. Hoje, organizações escalam soluções sem rastreabilidade ou gestão de riscos operacionais. A inovação sem governança em ambientes críticos não é um avanço — é uma vulnerabilidade."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2F627-BA13-447B-BAA0-BC64268F0DF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9726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custo de não agir é inaceitável. A falta de controle gera um risco triplo para a empresa: ameaças cibernéticas que podem derrubar serviços essenciais de missão crítica; exposição a multas severas por não conformidade com leis como LGPD e AI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e danos irreversíveis à marca por decisões automatizadas enviesadas e sem transparência."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2F627-BA13-447B-BAA0-BC64268F0DF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3871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 o maior perigo está operando fora do radar da diretoria. Enquanto a 'IA Oficial' homologada é a ponta visível, a 'Shadow AI' cresce na base do iceberg. Esse uso invisível por colaboradores é o maior vetor de risco atual, inserindo dados corporativos sensíveis em plataformas abertas sem nenhuma supervisão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2F627-BA13-447B-BAA0-BC64268F0DF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4465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combater essa vulnerabilidade, nossa estrutura nasce de uma fundação inegociável baseada, destacando-se a Centralidade Humana e Bem-Estar, Transparência, Segurança e Privacidade, e Responsabilidade. Toda a infraestrutura deve ser construída sobre eles</a:t>
            </a:r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b="1" dirty="0">
                <a:effectLst/>
              </a:rPr>
              <a:t>1. Centralidade Humana e Bem-Estar:</a:t>
            </a:r>
            <a:r>
              <a:rPr lang="pt-BR" dirty="0">
                <a:effectLst/>
              </a:rPr>
              <a:t> A IA apoia a operação, mas a supervisão final é sempre humana. </a:t>
            </a:r>
          </a:p>
          <a:p>
            <a:r>
              <a:rPr lang="pt-BR" b="1" dirty="0">
                <a:effectLst/>
              </a:rPr>
              <a:t>2. Transparência e Explicabilidade:</a:t>
            </a:r>
            <a:r>
              <a:rPr lang="pt-BR" dirty="0">
                <a:effectLst/>
              </a:rPr>
              <a:t> Zero "caixas pretas"; as decisões do modelo devem ser claras e auditáveis.</a:t>
            </a:r>
          </a:p>
          <a:p>
            <a:r>
              <a:rPr lang="pt-BR" b="1" dirty="0">
                <a:effectLst/>
              </a:rPr>
              <a:t>3. Justiça e Não Discriminação:</a:t>
            </a:r>
            <a:r>
              <a:rPr lang="pt-BR" dirty="0">
                <a:effectLst/>
              </a:rPr>
              <a:t> Algoritmos imparciais e com bloqueio ativo contra vieses. </a:t>
            </a:r>
          </a:p>
          <a:p>
            <a:r>
              <a:rPr lang="pt-BR" b="1" dirty="0">
                <a:effectLst/>
              </a:rPr>
              <a:t>4. Confiabilidade e Robustez:</a:t>
            </a:r>
            <a:r>
              <a:rPr lang="pt-BR" dirty="0">
                <a:effectLst/>
              </a:rPr>
              <a:t> Resiliência máxima; em operações críticas, a IA não pode falhar. </a:t>
            </a:r>
          </a:p>
          <a:p>
            <a:r>
              <a:rPr lang="pt-BR" b="1" dirty="0">
                <a:effectLst/>
              </a:rPr>
              <a:t>5. Segurança e Privacidade:</a:t>
            </a:r>
            <a:r>
              <a:rPr lang="pt-BR" dirty="0">
                <a:effectLst/>
              </a:rPr>
              <a:t> Blindagem de dados sensíveis e proteção cibernética desde o início (Security </a:t>
            </a:r>
            <a:r>
              <a:rPr lang="pt-BR" dirty="0" err="1">
                <a:effectLst/>
              </a:rPr>
              <a:t>by</a:t>
            </a:r>
            <a:r>
              <a:rPr lang="pt-BR" dirty="0">
                <a:effectLst/>
              </a:rPr>
              <a:t> Design). </a:t>
            </a:r>
          </a:p>
          <a:p>
            <a:r>
              <a:rPr lang="pt-BR" b="1" dirty="0">
                <a:effectLst/>
              </a:rPr>
              <a:t>6. Responsabilidade e Prestação de Contas:</a:t>
            </a:r>
            <a:r>
              <a:rPr lang="pt-BR" dirty="0">
                <a:effectLst/>
              </a:rPr>
              <a:t> Sempre haverá um profissional respondendo pelas ações da IA. </a:t>
            </a:r>
          </a:p>
          <a:p>
            <a:r>
              <a:rPr lang="pt-BR" b="1" dirty="0">
                <a:effectLst/>
              </a:rPr>
              <a:t>7. Sustentabilidade:</a:t>
            </a:r>
            <a:r>
              <a:rPr lang="pt-BR" dirty="0">
                <a:effectLst/>
              </a:rPr>
              <a:t> Inovação que escala de forma saudável, sem esgotar recursos.</a:t>
            </a:r>
          </a:p>
          <a:p>
            <a:endParaRPr lang="pt-BR" b="1" dirty="0">
              <a:effectLst/>
            </a:endParaRPr>
          </a:p>
          <a:p>
            <a:endParaRPr lang="pt-BR" b="1" dirty="0">
              <a:effectLst/>
            </a:endParaRPr>
          </a:p>
          <a:p>
            <a:r>
              <a:rPr lang="pt-BR" b="1" dirty="0">
                <a:effectLst/>
              </a:rPr>
              <a:t>Sugestão de fala rápida para o </a:t>
            </a:r>
            <a:r>
              <a:rPr lang="pt-BR" b="1" dirty="0" err="1">
                <a:effectLst/>
              </a:rPr>
              <a:t>Pitch</a:t>
            </a:r>
            <a:r>
              <a:rPr lang="pt-BR" b="1" dirty="0">
                <a:effectLst/>
              </a:rPr>
              <a:t> (15 a 20 segundos):</a:t>
            </a:r>
            <a:r>
              <a:rPr lang="pt-BR" dirty="0">
                <a:effectLst/>
              </a:rPr>
              <a:t> </a:t>
            </a:r>
            <a:r>
              <a:rPr lang="pt-BR" i="1" dirty="0">
                <a:effectLst/>
              </a:rPr>
              <a:t>"Nossa estrutura é blindada por 7 princípios inegociáveis. Exigimos </a:t>
            </a:r>
            <a:r>
              <a:rPr lang="pt-BR" b="1" i="1" dirty="0">
                <a:effectLst/>
              </a:rPr>
              <a:t>Centralidade Humana</a:t>
            </a:r>
            <a:r>
              <a:rPr lang="pt-BR" i="1" dirty="0">
                <a:effectLst/>
              </a:rPr>
              <a:t> e </a:t>
            </a:r>
            <a:r>
              <a:rPr lang="pt-BR" b="1" i="1" dirty="0">
                <a:effectLst/>
              </a:rPr>
              <a:t>Responsabilidade</a:t>
            </a:r>
            <a:r>
              <a:rPr lang="pt-BR" i="1" dirty="0">
                <a:effectLst/>
              </a:rPr>
              <a:t> — a máquina atua, mas o humano valida. Garantimos </a:t>
            </a:r>
            <a:r>
              <a:rPr lang="pt-BR" b="1" i="1" dirty="0">
                <a:effectLst/>
              </a:rPr>
              <a:t>Transparência</a:t>
            </a:r>
            <a:r>
              <a:rPr lang="pt-BR" i="1" dirty="0">
                <a:effectLst/>
              </a:rPr>
              <a:t> e </a:t>
            </a:r>
            <a:r>
              <a:rPr lang="pt-BR" b="1" i="1" dirty="0">
                <a:effectLst/>
              </a:rPr>
              <a:t>Justiça</a:t>
            </a:r>
            <a:r>
              <a:rPr lang="pt-BR" i="1" dirty="0">
                <a:effectLst/>
              </a:rPr>
              <a:t> contra decisões enviesadas que gerem risco reputacional. E asseguramos </a:t>
            </a:r>
            <a:r>
              <a:rPr lang="pt-BR" b="1" i="1" dirty="0">
                <a:effectLst/>
              </a:rPr>
              <a:t>Confiabilidade</a:t>
            </a:r>
            <a:r>
              <a:rPr lang="pt-BR" i="1" dirty="0">
                <a:effectLst/>
              </a:rPr>
              <a:t>, </a:t>
            </a:r>
            <a:r>
              <a:rPr lang="pt-BR" b="1" i="1" dirty="0">
                <a:effectLst/>
              </a:rPr>
              <a:t>Segurança</a:t>
            </a:r>
            <a:r>
              <a:rPr lang="pt-BR" i="1" dirty="0">
                <a:effectLst/>
              </a:rPr>
              <a:t> e </a:t>
            </a:r>
            <a:r>
              <a:rPr lang="pt-BR" b="1" i="1" dirty="0">
                <a:effectLst/>
              </a:rPr>
              <a:t>Sustentabilidade</a:t>
            </a:r>
            <a:r>
              <a:rPr lang="pt-BR" i="1" dirty="0">
                <a:effectLst/>
              </a:rPr>
              <a:t>, tudo </a:t>
            </a:r>
            <a:r>
              <a:rPr lang="pt-BR" i="1">
                <a:effectLst/>
              </a:rPr>
              <a:t>sob rigoroso”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2F627-BA13-447B-BAA0-BC64268F0DF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6352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 partir dessa fundação, desenvolvemos uma metodologia prática e adaptável dividida em 5 pilares:</a:t>
            </a:r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Organização da IA: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definindo papéis e políticas claras contra a Shadow AI.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Conformidade e Riscos: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alinhamento rigoroso com marcos como o NIST e ISO 42001.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Ética e Transparência: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garantindo supervisão humana (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-in-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-loop) nas decisões.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Dados e Infraestrutura: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estabelecendo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guardrails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governança de IA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agêntica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Segurança da IA: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garantindo proteção dedicada (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Design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contra ataques cibernéticos."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2F627-BA13-447B-BAA0-BC64268F0DF5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4420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Sabemos que frameworks estáticos morrem. Por isso, o modelo não é engessado. Ele possui um mecanismo que evolui em tempo real, utilizando telemetria operacional (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feedback loops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e avaliações periódicas para se adaptar contra novas vulnerabilidades tecnológicas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2F627-BA13-447B-BAA0-BC64268F0DF5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68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transformar a teoria arquitetural em realidade, nossa solução é totalmente 'mão na massa'. Nós entregamos ferramentas prontas: o Documento Core metodológico, um Guia passo a passo de implementação, Checklists de validação para auditoria e um Protótipo de Dashboard para o monitoramento contínuo dos indicadores da governança.“</a:t>
            </a:r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transformar a teoria arquitetural em realidade, nossa solução é totalmente 'mão na massa'. O grande diferencial aqui é o nosso </a:t>
            </a:r>
            <a:r>
              <a:rPr lang="pt-B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Guia de Implementação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conduz a empresa por passos práticos fundamentais: ele começa orientando o </a:t>
            </a:r>
            <a:r>
              <a:rPr lang="pt-B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Diagnóstico e Priorização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onde mapeamos a maturidade atual e os processos críticos, e avança para a </a:t>
            </a:r>
            <a:r>
              <a:rPr lang="pt-B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Estruturação da Governança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ajudando a definir os papéis estratégicos, as políticas de uso e os critérios de supervisão. Além deste guia prático de estruturação dos 5 pilares, o kit completo também entrega o Documento Core metodológico, Checklists de validação para auditoria rápida e um Protótipo de Dashboard para o monitoramento contínuo dos indicadores da governança. É a garantia de que a teoria não vai ficar na gaveta."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2F627-BA13-447B-BAA0-BC64268F0DF5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8198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Quem estruturar governança agora terá mais capacidade de inovar, adaptar-se e reduzir riscos no futuro.”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Nosso foco não é apenas implementar IA, mas garantir que ela seja confiável, segura e sustentável para operações críticas. A governança é o mecanismo que permite escalar inovação com controle institucional.”</a:t>
            </a:r>
          </a:p>
          <a:p>
            <a:endParaRPr lang="pt-BR" dirty="0"/>
          </a:p>
          <a:p>
            <a:r>
              <a:rPr lang="pt-BR"/>
              <a:t>“A velocidade da IA sem governança aumenta o risco exponencialmente.” “Governança não é freio para inovação — é o que permite escalar com segurança.” “A pergunta deixou de ser ‘vamos usar IA?’ e passou a ser ‘como governar IA de forma confiável?’” “IA em operações críticas exige rastreabilidade, responsabilidade e supervisão.” “O framework traduz princípios de governança em execução prática.”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2F627-BA13-447B-BAA0-BC64268F0DF5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558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2C59F38-9B16-C87F-2195-FA436A890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442"/>
            <a:ext cx="16319500" cy="91085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F114C9-E60A-A710-5CB6-3780FA8F3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00" y="0"/>
            <a:ext cx="16383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426B5D-527D-E455-9703-5851798A4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941</Words>
  <Application>Microsoft Office PowerPoint</Application>
  <PresentationFormat>Personalizar</PresentationFormat>
  <Paragraphs>36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</dc:creator>
  <cp:lastModifiedBy>Alex Albuquerque</cp:lastModifiedBy>
  <cp:revision>2</cp:revision>
  <dcterms:created xsi:type="dcterms:W3CDTF">2006-08-16T00:00:00Z</dcterms:created>
  <dcterms:modified xsi:type="dcterms:W3CDTF">2026-05-20T19:49:57Z</dcterms:modified>
</cp:coreProperties>
</file>